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Works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Eligible books</c:v>
                </c:pt>
                <c:pt idx="1">
                  <c:v>Claimed works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482460</c:v>
                </c:pt>
                <c:pt idx="1">
                  <c:v>440490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AA42"/>
                </a:solidFill>
                <a:latin typeface="Aptos"/>
              </a:defRPr>
            </a:pPr>
            <a:r>
              <a:t>Research Methodology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74980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Copyright in the Age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E5EAEE"/>
                </a:solidFill>
                <a:latin typeface="Aptos"/>
              </a:defRPr>
            </a:pPr>
            <a:r>
              <a:t>Case Study: Bartz v. Anthropic PBC and the $1.5B AI books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035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E5EAEE"/>
                </a:solidFill>
                <a:latin typeface="Aptos"/>
              </a:defRPr>
            </a:pPr>
            <a:r>
              <a:t>Focus: how a case study method explains a real legal-technology conflict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1051560" cy="1051560"/>
          </a:xfrm>
          <a:prstGeom prst="ellipse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2103120"/>
            <a:ext cx="1051560" cy="1051560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3383280"/>
            <a:ext cx="1051560" cy="1051560"/>
          </a:xfrm>
          <a:prstGeom prst="ellipse">
            <a:avLst/>
          </a:prstGeom>
          <a:solidFill>
            <a:srgbClr val="C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Topic: Copyright case study | Latest status checked: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Why this case is interesting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A current copyright dispute where authors, AI companies, markets, and law all collide.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1828800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New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Generative AI systems need massive training data, including books and other creative 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73152" cy="1828800"/>
          </a:xfrm>
          <a:prstGeom prst="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848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Old legal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Copyright law asks whether copying is permitted, licensed, infringing, or protected by fair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73152" cy="1828800"/>
          </a:xfrm>
          <a:prstGeom prst="rect">
            <a:avLst/>
          </a:prstGeom>
          <a:solidFill>
            <a:srgbClr val="C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848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Research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87168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The case gives clear documents, stakeholders, dates, evidence, and competing interpretations.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Suitable for a case study because it is bounded, recent, evidence-rich, and socially relevant.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Case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Bartz v. Anthropic PBC, U.S. District Court, Northern District of California.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85800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F2D"/>
                </a:solidFill>
                <a:latin typeface="Aptos"/>
              </a:defRPr>
            </a:pPr>
            <a:r>
              <a:t>Filed by authors including Andrea Bartz, Charles Graeber, and Kirk Wallace Johnson.</a:t>
            </a:r>
          </a:p>
          <a:p>
            <a:pPr>
              <a:spcAft>
                <a:spcPts val="800"/>
              </a:spcAft>
              <a:defRPr sz="1800">
                <a:solidFill>
                  <a:srgbClr val="101F2D"/>
                </a:solidFill>
                <a:latin typeface="Aptos"/>
              </a:defRPr>
            </a:pPr>
            <a:r>
              <a:t>Claim: Anthropic copied books without permission while developing large language models.</a:t>
            </a:r>
          </a:p>
          <a:p>
            <a:pPr>
              <a:spcAft>
                <a:spcPts val="800"/>
              </a:spcAft>
              <a:defRPr sz="1800">
                <a:solidFill>
                  <a:srgbClr val="101F2D"/>
                </a:solidFill>
                <a:latin typeface="Aptos"/>
              </a:defRPr>
            </a:pPr>
            <a:r>
              <a:t>Key distinction: legally acquired books for AI training versus pirated books from shadow libraries.</a:t>
            </a:r>
          </a:p>
          <a:p>
            <a:pPr>
              <a:spcAft>
                <a:spcPts val="800"/>
              </a:spcAft>
              <a:defRPr sz="1800">
                <a:solidFill>
                  <a:srgbClr val="101F2D"/>
                </a:solidFill>
                <a:latin typeface="Aptos"/>
              </a:defRPr>
            </a:pPr>
            <a:r>
              <a:t>The case became a benchmark for AI training, licensing, and copyright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737360"/>
            <a:ext cx="3017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737360"/>
            <a:ext cx="73152" cy="2377440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901952"/>
            <a:ext cx="2606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Core 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04288"/>
            <a:ext cx="2606039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Can an AI company learn from copyrighted books without permission, and does the source of those books change the answer?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Timeline of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The case is useful because events can be arranged chronologically.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834640"/>
            <a:ext cx="1828800" cy="54864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514600"/>
            <a:ext cx="502920" cy="502920"/>
          </a:xfrm>
          <a:prstGeom prst="ellipse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1F2D"/>
                </a:solidFill>
                <a:latin typeface="Aptos"/>
              </a:defRPr>
            </a:pPr>
            <a:r>
              <a:t>Aug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58626E"/>
                </a:solidFill>
                <a:latin typeface="Aptos"/>
              </a:defRPr>
            </a:pPr>
            <a:r>
              <a:t>Authors sue Anthropic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834640"/>
            <a:ext cx="1828800" cy="54864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1546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1F2D"/>
                </a:solidFill>
                <a:latin typeface="Aptos"/>
              </a:defRPr>
            </a:pPr>
            <a:r>
              <a:t>Jun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204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58626E"/>
                </a:solidFill>
                <a:latin typeface="Aptos"/>
              </a:defRPr>
            </a:pPr>
            <a:r>
              <a:t>Court says AI training can be fair use when books are lawfully acquired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834640"/>
            <a:ext cx="1828800" cy="54864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0" y="2514600"/>
            <a:ext cx="502920" cy="502920"/>
          </a:xfrm>
          <a:prstGeom prst="ellipse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1546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1F2D"/>
                </a:solidFill>
                <a:latin typeface="Aptos"/>
              </a:defRPr>
            </a:pPr>
            <a:r>
              <a:t>Jul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5204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58626E"/>
                </a:solidFill>
                <a:latin typeface="Aptos"/>
              </a:defRPr>
            </a:pPr>
            <a:r>
              <a:t>Class certified for piracy-related claims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834640"/>
            <a:ext cx="1828800" cy="54864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92440" y="2514600"/>
            <a:ext cx="502920" cy="502920"/>
          </a:xfrm>
          <a:prstGeom prst="ellipse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1546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1F2D"/>
                </a:solidFill>
                <a:latin typeface="Aptos"/>
              </a:defRPr>
            </a:pPr>
            <a:r>
              <a:t>Sep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204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58626E"/>
                </a:solidFill>
                <a:latin typeface="Aptos"/>
              </a:defRPr>
            </a:pPr>
            <a:r>
              <a:t>$1.5B settlement receives preliminary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2834640"/>
            <a:ext cx="1828800" cy="54864"/>
          </a:xfrm>
          <a:prstGeom prst="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0" y="2514600"/>
            <a:ext cx="502920" cy="502920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1546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1F2D"/>
                </a:solidFill>
                <a:latin typeface="Aptos"/>
              </a:defRPr>
            </a:pPr>
            <a:r>
              <a:t>Jun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52044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58626E"/>
                </a:solidFill>
                <a:latin typeface="Aptos"/>
              </a:defRPr>
            </a:pPr>
            <a:r>
              <a:t>Final approval still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Authors Guild update; AP News; Clark Hill June 2026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Research methodology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Single-case qualitative case study with document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73152" cy="1645920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Case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Instrumental case study: the case is used to understand a wider issue, AI and copyright.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73152" cy="1645920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476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0008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Court order, settlement notice, author advocacy updates, legal commentary, and news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73152" cy="1645920"/>
          </a:xfrm>
          <a:prstGeom prst="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Analysis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50008"/>
            <a:ext cx="2971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Thematic coding around fair use, piracy, market harm, licensing, and stakeholder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1605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160520"/>
            <a:ext cx="73152" cy="1325880"/>
          </a:xfrm>
          <a:prstGeom prst="rect">
            <a:avLst/>
          </a:prstGeom>
          <a:solidFill>
            <a:srgbClr val="C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43251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Unit of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727448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The Bartz v. Anthropic dispute and its settlement pathway.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1605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160520"/>
            <a:ext cx="73152" cy="1325880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3251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727448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U.S. copyright law context, 2024-2026 public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Questions guide the case study instead of simply narrating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149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RQ1: How did the court distinguish AI training from unauthorized acquisition of copyrighted books?</a:t>
            </a:r>
          </a:p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RQ2: What evidence shaped the fair-use and piracy analysis?</a:t>
            </a:r>
          </a:p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RQ3: How did the settlement change incentives for authors, publishers, and AI companies?</a:t>
            </a:r>
          </a:p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RQ4: What does the case suggest about future copyright licensing models for AI training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Stakeholder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A case study identifies each actor and their interests.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743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1918C"/>
                </a:solidFill>
                <a:latin typeface="Aptos"/>
              </a:defRPr>
            </a:pPr>
            <a:r>
              <a:t>Authors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58626E"/>
                </a:solidFill>
                <a:latin typeface="Aptos"/>
              </a:defRPr>
            </a:pPr>
            <a:r>
              <a:t>control, credit, compensation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80160"/>
            <a:ext cx="2743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44751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5C82"/>
                </a:solidFill>
                <a:latin typeface="Aptos"/>
              </a:defRPr>
            </a:pPr>
            <a:r>
              <a:t>Publishers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556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58626E"/>
                </a:solidFill>
                <a:latin typeface="Aptos"/>
              </a:defRPr>
            </a:pPr>
            <a:r>
              <a:t>rights management, licensing markets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2743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9339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8AA42"/>
                </a:solidFill>
                <a:latin typeface="Aptos"/>
              </a:defRPr>
            </a:pPr>
            <a:r>
              <a:t>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0428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58626E"/>
                </a:solidFill>
                <a:latin typeface="Aptos"/>
              </a:defRPr>
            </a:pPr>
            <a:r>
              <a:t>training data, AI product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69080"/>
            <a:ext cx="2743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2336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C44848"/>
                </a:solidFill>
                <a:latin typeface="Aptos"/>
              </a:defRPr>
            </a:pPr>
            <a:r>
              <a:t>Court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5445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58626E"/>
                </a:solidFill>
                <a:latin typeface="Aptos"/>
              </a:defRPr>
            </a:pPr>
            <a:r>
              <a:t>fair use, class action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7889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01F2D"/>
                </a:solidFill>
                <a:latin typeface="Aptos"/>
              </a:defRPr>
            </a:pPr>
            <a:r>
              <a:t>Copyrighted books + AI training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Key findings from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The case does not give a simple yes/no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828800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Finding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Training may be treated as transformative fair use when the material is lawfully acquired and not reproduced in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1828800"/>
          </a:xfrm>
          <a:prstGeom prst="rect">
            <a:avLst/>
          </a:prstGeom>
          <a:solidFill>
            <a:srgbClr val="C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Pirated acquisition and retention created separate legal risk that fair use did not erase.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Finding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67128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The settlement pushed the debate toward licensed datasets and cleaner provenance.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01F2D"/>
                </a:solidFill>
                <a:latin typeface="Aptos"/>
              </a:defRPr>
            </a:pPr>
            <a:r>
              <a:t>Research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1F2D"/>
                </a:solidFill>
                <a:latin typeface="Aptos"/>
              </a:defRPr>
            </a:pPr>
            <a:r>
              <a:t>The most important methodological lesson is to separate the legal issue into sub-questions: purpose of use, source of data, market effect, and remedy.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Quantitative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Numbers help communicate the scale of the dispute.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737360"/>
          <a:ext cx="5943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82880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73152" cy="1051560"/>
          </a:xfrm>
          <a:prstGeom prst="rect">
            <a:avLst/>
          </a:prstGeom>
          <a:solidFill>
            <a:srgbClr val="C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93392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$1.5B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95728"/>
            <a:ext cx="342900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Proposed settlement amount plus interest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5468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154680"/>
            <a:ext cx="73152" cy="1051560"/>
          </a:xfrm>
          <a:prstGeom prst="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319272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about $3,000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721608"/>
            <a:ext cx="342900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Estimated payment per qualifying work before deductions/splits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480560"/>
            <a:ext cx="3840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480560"/>
            <a:ext cx="73152" cy="1051560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645152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91.3%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047488"/>
            <a:ext cx="342900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Claim rate reported before the May 2026 fairness hearing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Authors Guild; Society of Authors; AP 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Ethical issues in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Research methodology also evaluates ethics, not just 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9875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Respect for creators: creative labor has economic and moral value.</a:t>
            </a:r>
          </a:p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Data provenance: AI datasets should record where training material came from.</a:t>
            </a:r>
          </a:p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Transparency: class members need clear notice, claim access, and fair payment procedures.</a:t>
            </a:r>
          </a:p>
          <a:p>
            <a:pPr>
              <a:spcAft>
                <a:spcPts val="800"/>
              </a:spcAft>
              <a:defRPr sz="2000">
                <a:solidFill>
                  <a:srgbClr val="101F2D"/>
                </a:solidFill>
                <a:latin typeface="Aptos"/>
              </a:defRPr>
            </a:pPr>
            <a:r>
              <a:t>Balance: innovation benefits society, but shortcuts in data collection can create harm.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Bartz v. Anthropic is a strong case study for copyright research methodology.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73152" cy="2011680"/>
          </a:xfrm>
          <a:prstGeom prst="rect">
            <a:avLst/>
          </a:prstGeom>
          <a:solidFill>
            <a:srgbClr val="21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562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Method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58568"/>
            <a:ext cx="2788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A case study works best when the researcher defines clear boundaries, data sources, and research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91640"/>
            <a:ext cx="73152" cy="2011680"/>
          </a:xfrm>
          <a:prstGeom prst="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8562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Copyright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58568"/>
            <a:ext cx="2788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AI training, fair use, piracy, licensing, and market harm must be analyzed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200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73152" cy="2011680"/>
          </a:xfrm>
          <a:prstGeom prst="rect">
            <a:avLst/>
          </a:prstGeom>
          <a:solidFill>
            <a:srgbClr val="C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562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1F2D"/>
                </a:solidFill>
                <a:latin typeface="Aptos"/>
              </a:defRPr>
            </a:pPr>
            <a:r>
              <a:t>Practical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58568"/>
            <a:ext cx="2788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58626E"/>
                </a:solidFill>
                <a:latin typeface="Aptos"/>
              </a:defRPr>
            </a:pPr>
            <a:r>
              <a:t>Future AI companies may need stronger licensing, dataset audits, and creator compensation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Seminar closing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8626E"/>
                </a:solidFill>
                <a:latin typeface="Aptos"/>
              </a:defRPr>
            </a:pPr>
            <a:r>
              <a:t>This case shows that research methodology is not only about collecting facts; it is about organizing evidence so a complex real-world problem becomes understandable.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Sources: U.S. District Court order; Authors Guild; AP News; Clark Hill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18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1F2D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8626E"/>
                </a:solidFill>
                <a:latin typeface="Aptos"/>
              </a:defRPr>
            </a:pPr>
            <a:r>
              <a:t>Use these sources in your final slide or seminar handout.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1F2D"/>
                </a:solidFill>
                <a:latin typeface="Aptos"/>
              </a:defRPr>
            </a:pPr>
            <a:r>
              <a:t>U.S. District Court order in Bartz v. Anthropic PBC, June 23, 2025.</a:t>
            </a:r>
          </a:p>
          <a:p>
            <a:pPr>
              <a:spcAft>
                <a:spcPts val="800"/>
              </a:spcAft>
              <a:defRPr sz="1600">
                <a:solidFill>
                  <a:srgbClr val="101F2D"/>
                </a:solidFill>
                <a:latin typeface="Aptos"/>
              </a:defRPr>
            </a:pPr>
            <a:r>
              <a:t>Authors Guild, 'Bartz v. Anthropic Settlement: What Authors Need to Know', updated Apr. 8, 2026.</a:t>
            </a:r>
          </a:p>
          <a:p>
            <a:pPr>
              <a:spcAft>
                <a:spcPts val="800"/>
              </a:spcAft>
              <a:defRPr sz="1600">
                <a:solidFill>
                  <a:srgbClr val="101F2D"/>
                </a:solidFill>
                <a:latin typeface="Aptos"/>
              </a:defRPr>
            </a:pPr>
            <a:r>
              <a:t>AP News, preliminary $1.5B settlement approval report, Sept. 2025.</a:t>
            </a:r>
          </a:p>
          <a:p>
            <a:pPr>
              <a:spcAft>
                <a:spcPts val="800"/>
              </a:spcAft>
              <a:defRPr sz="1600">
                <a:solidFill>
                  <a:srgbClr val="101F2D"/>
                </a:solidFill>
                <a:latin typeface="Aptos"/>
              </a:defRPr>
            </a:pPr>
            <a:r>
              <a:t>Clark Hill, 'Right To Know - June 2026, Vol. 42', June 15, 2026.</a:t>
            </a:r>
          </a:p>
          <a:p>
            <a:pPr>
              <a:spcAft>
                <a:spcPts val="800"/>
              </a:spcAft>
              <a:defRPr sz="1600">
                <a:solidFill>
                  <a:srgbClr val="101F2D"/>
                </a:solidFill>
                <a:latin typeface="Aptos"/>
              </a:defRPr>
            </a:pPr>
            <a:r>
              <a:t>Society of Authors, Anthropic settlement update,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8626E"/>
                </a:solidFill>
                <a:latin typeface="Aptos"/>
              </a:defRPr>
            </a:pPr>
            <a:r>
              <a:t>References are summarized for classroom use; verify legal advice with primary materials.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8626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